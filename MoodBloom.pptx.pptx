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arlow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Montserrat Bold" charset="1" panose="00000800000000000000"/>
      <p:regular r:id="rId21"/>
    </p:embeddedFont>
    <p:embeddedFont>
      <p:font typeface="Montserrat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3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40.png" Type="http://schemas.openxmlformats.org/officeDocument/2006/relationships/image"/><Relationship Id="rId21" Target="../media/image41.svg" Type="http://schemas.openxmlformats.org/officeDocument/2006/relationships/image"/><Relationship Id="rId22" Target="../media/image42.png" Type="http://schemas.openxmlformats.org/officeDocument/2006/relationships/image"/><Relationship Id="rId23" Target="../media/image43.svg" Type="http://schemas.openxmlformats.org/officeDocument/2006/relationships/image"/><Relationship Id="rId24" Target="../media/image44.png" Type="http://schemas.openxmlformats.org/officeDocument/2006/relationships/image"/><Relationship Id="rId25" Target="../media/image45.svg" Type="http://schemas.openxmlformats.org/officeDocument/2006/relationships/image"/><Relationship Id="rId26" Target="../media/image46.png" Type="http://schemas.openxmlformats.org/officeDocument/2006/relationships/image"/><Relationship Id="rId27" Target="../media/image47.svg" Type="http://schemas.openxmlformats.org/officeDocument/2006/relationships/image"/><Relationship Id="rId28" Target="../media/image48.png" Type="http://schemas.openxmlformats.org/officeDocument/2006/relationships/image"/><Relationship Id="rId29" Target="../media/image49.svg" Type="http://schemas.openxmlformats.org/officeDocument/2006/relationships/image"/><Relationship Id="rId3" Target="../media/image13.png" Type="http://schemas.openxmlformats.org/officeDocument/2006/relationships/image"/><Relationship Id="rId30" Target="../media/image50.png" Type="http://schemas.openxmlformats.org/officeDocument/2006/relationships/image"/><Relationship Id="rId31" Target="../media/image51.svg" Type="http://schemas.openxmlformats.org/officeDocument/2006/relationships/image"/><Relationship Id="rId32" Target="../media/image12.png" Type="http://schemas.openxmlformats.org/officeDocument/2006/relationships/image"/><Relationship Id="rId33" Target="../media/image52.pn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63.png" Type="http://schemas.openxmlformats.org/officeDocument/2006/relationships/image"/><Relationship Id="rId15" Target="../media/image64.svg" Type="http://schemas.openxmlformats.org/officeDocument/2006/relationships/image"/><Relationship Id="rId16" Target="../media/image65.png" Type="http://schemas.openxmlformats.org/officeDocument/2006/relationships/image"/><Relationship Id="rId17" Target="../media/image66.svg" Type="http://schemas.openxmlformats.org/officeDocument/2006/relationships/image"/><Relationship Id="rId18" Target="../media/image67.png" Type="http://schemas.openxmlformats.org/officeDocument/2006/relationships/image"/><Relationship Id="rId19" Target="../media/image68.sv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69.png" Type="http://schemas.openxmlformats.org/officeDocument/2006/relationships/image"/><Relationship Id="rId21" Target="../media/image70.svg" Type="http://schemas.openxmlformats.org/officeDocument/2006/relationships/image"/><Relationship Id="rId22" Target="../media/image71.png" Type="http://schemas.openxmlformats.org/officeDocument/2006/relationships/image"/><Relationship Id="rId23" Target="../media/image72.svg" Type="http://schemas.openxmlformats.org/officeDocument/2006/relationships/image"/><Relationship Id="rId24" Target="../media/image12.png" Type="http://schemas.openxmlformats.org/officeDocument/2006/relationships/image"/><Relationship Id="rId25" Target="../media/image73.png" Type="http://schemas.openxmlformats.org/officeDocument/2006/relationships/image"/><Relationship Id="rId26" Target="../media/image74.svg" Type="http://schemas.openxmlformats.org/officeDocument/2006/relationships/image"/><Relationship Id="rId3" Target="../media/image13.pn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sv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mood-bloom-nine.vercel.app/" TargetMode="External" Type="http://schemas.openxmlformats.org/officeDocument/2006/relationships/hyperlink"/><Relationship Id="rId11" Target="../media/image97.png" Type="http://schemas.openxmlformats.org/officeDocument/2006/relationships/image"/><Relationship Id="rId12" Target="https://mood-bloom-nine.vercel.app/" TargetMode="External" Type="http://schemas.openxmlformats.org/officeDocument/2006/relationships/hyperlink"/><Relationship Id="rId13" Target="../media/image12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3.png" Type="http://schemas.openxmlformats.org/officeDocument/2006/relationships/image"/><Relationship Id="rId4" Target="../media/image91.png" Type="http://schemas.openxmlformats.org/officeDocument/2006/relationships/image"/><Relationship Id="rId5" Target="../media/image92.png" Type="http://schemas.openxmlformats.org/officeDocument/2006/relationships/image"/><Relationship Id="rId6" Target="../media/image93.png" Type="http://schemas.openxmlformats.org/officeDocument/2006/relationships/image"/><Relationship Id="rId7" Target="../media/image94.svg" Type="http://schemas.openxmlformats.org/officeDocument/2006/relationships/image"/><Relationship Id="rId8" Target="../media/image95.png" Type="http://schemas.openxmlformats.org/officeDocument/2006/relationships/image"/><Relationship Id="rId9" Target="../media/image9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92059" y="0"/>
            <a:ext cx="7595941" cy="10338178"/>
            <a:chOff x="0" y="0"/>
            <a:chExt cx="17851531" cy="24296176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17851503" cy="24296086"/>
            </a:xfrm>
            <a:custGeom>
              <a:avLst/>
              <a:gdLst/>
              <a:ahLst/>
              <a:cxnLst/>
              <a:rect r="r" b="b" t="t" l="l"/>
              <a:pathLst>
                <a:path h="24296086" w="17851503">
                  <a:moveTo>
                    <a:pt x="0" y="0"/>
                  </a:moveTo>
                  <a:lnTo>
                    <a:pt x="17851503" y="0"/>
                  </a:lnTo>
                  <a:lnTo>
                    <a:pt x="17851503" y="24296086"/>
                  </a:lnTo>
                  <a:lnTo>
                    <a:pt x="0" y="2429608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3B81F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3832" y="3756831"/>
            <a:ext cx="9550975" cy="19069"/>
            <a:chOff x="0" y="0"/>
            <a:chExt cx="12734633" cy="254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34671" cy="25400"/>
            </a:xfrm>
            <a:custGeom>
              <a:avLst/>
              <a:gdLst/>
              <a:ahLst/>
              <a:cxnLst/>
              <a:rect r="r" b="b" t="t" l="l"/>
              <a:pathLst>
                <a:path h="25400" w="1273467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721971" y="0"/>
                  </a:lnTo>
                  <a:cubicBezTo>
                    <a:pt x="12728956" y="0"/>
                    <a:pt x="12734671" y="5715"/>
                    <a:pt x="12734671" y="12700"/>
                  </a:cubicBezTo>
                  <a:cubicBezTo>
                    <a:pt x="12734671" y="19685"/>
                    <a:pt x="12728956" y="25400"/>
                    <a:pt x="1272197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84653">
                <a:alpha val="24706"/>
              </a:srgbClr>
            </a:solidFill>
            <a:ln w="9532" cap="sq">
              <a:solidFill>
                <a:srgbClr val="DFDFE0"/>
              </a:solidFill>
              <a:prstDash val="solid"/>
              <a:miter/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948604" y="4143632"/>
            <a:ext cx="2999813" cy="2551271"/>
          </a:xfrm>
          <a:custGeom>
            <a:avLst/>
            <a:gdLst/>
            <a:ahLst/>
            <a:cxnLst/>
            <a:rect r="r" b="b" t="t" l="l"/>
            <a:pathLst>
              <a:path h="2551271" w="2999813">
                <a:moveTo>
                  <a:pt x="0" y="0"/>
                </a:moveTo>
                <a:lnTo>
                  <a:pt x="2999813" y="0"/>
                </a:lnTo>
                <a:lnTo>
                  <a:pt x="2999813" y="2551271"/>
                </a:lnTo>
                <a:lnTo>
                  <a:pt x="0" y="2551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4219346" y="4143632"/>
            <a:ext cx="2999813" cy="2551271"/>
          </a:xfrm>
          <a:custGeom>
            <a:avLst/>
            <a:gdLst/>
            <a:ahLst/>
            <a:cxnLst/>
            <a:rect r="r" b="b" t="t" l="l"/>
            <a:pathLst>
              <a:path h="2551271" w="2999813">
                <a:moveTo>
                  <a:pt x="0" y="0"/>
                </a:moveTo>
                <a:lnTo>
                  <a:pt x="2999813" y="0"/>
                </a:lnTo>
                <a:lnTo>
                  <a:pt x="2999813" y="2551271"/>
                </a:lnTo>
                <a:lnTo>
                  <a:pt x="0" y="2551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7490079" y="4143632"/>
            <a:ext cx="2999813" cy="2551271"/>
          </a:xfrm>
          <a:custGeom>
            <a:avLst/>
            <a:gdLst/>
            <a:ahLst/>
            <a:cxnLst/>
            <a:rect r="r" b="b" t="t" l="l"/>
            <a:pathLst>
              <a:path h="2551271" w="2999813">
                <a:moveTo>
                  <a:pt x="0" y="0"/>
                </a:moveTo>
                <a:lnTo>
                  <a:pt x="2999813" y="0"/>
                </a:lnTo>
                <a:lnTo>
                  <a:pt x="2999813" y="2551271"/>
                </a:lnTo>
                <a:lnTo>
                  <a:pt x="0" y="25512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8" r="0" b="-18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948604" y="6965833"/>
            <a:ext cx="2999813" cy="2105625"/>
          </a:xfrm>
          <a:custGeom>
            <a:avLst/>
            <a:gdLst/>
            <a:ahLst/>
            <a:cxnLst/>
            <a:rect r="r" b="b" t="t" l="l"/>
            <a:pathLst>
              <a:path h="2105625" w="2999813">
                <a:moveTo>
                  <a:pt x="0" y="0"/>
                </a:moveTo>
                <a:lnTo>
                  <a:pt x="2999813" y="0"/>
                </a:lnTo>
                <a:lnTo>
                  <a:pt x="2999813" y="2105625"/>
                </a:lnTo>
                <a:lnTo>
                  <a:pt x="0" y="2105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43" r="0" b="-43"/>
            </a:stretch>
          </a:blipFill>
        </p:spPr>
      </p:sp>
      <p:sp>
        <p:nvSpPr>
          <p:cNvPr name="Freeform 10" id="10" descr="preencoded.png"/>
          <p:cNvSpPr/>
          <p:nvPr/>
        </p:nvSpPr>
        <p:spPr>
          <a:xfrm flipH="false" flipV="false" rot="0">
            <a:off x="4219346" y="6965833"/>
            <a:ext cx="2999813" cy="2105625"/>
          </a:xfrm>
          <a:custGeom>
            <a:avLst/>
            <a:gdLst/>
            <a:ahLst/>
            <a:cxnLst/>
            <a:rect r="r" b="b" t="t" l="l"/>
            <a:pathLst>
              <a:path h="2105625" w="2999813">
                <a:moveTo>
                  <a:pt x="0" y="0"/>
                </a:moveTo>
                <a:lnTo>
                  <a:pt x="2999813" y="0"/>
                </a:lnTo>
                <a:lnTo>
                  <a:pt x="2999813" y="2105625"/>
                </a:lnTo>
                <a:lnTo>
                  <a:pt x="0" y="2105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43" r="0" b="-43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969751" y="-897397"/>
            <a:ext cx="7062901" cy="12132973"/>
          </a:xfrm>
          <a:prstGeom prst="rect">
            <a:avLst/>
          </a:prstGeom>
        </p:spPr>
      </p:pic>
      <p:sp>
        <p:nvSpPr>
          <p:cNvPr name="Freeform 12" id="12"/>
          <p:cNvSpPr/>
          <p:nvPr/>
        </p:nvSpPr>
        <p:spPr>
          <a:xfrm flipH="false" flipV="false" rot="0">
            <a:off x="0" y="0"/>
            <a:ext cx="2524773" cy="1117212"/>
          </a:xfrm>
          <a:custGeom>
            <a:avLst/>
            <a:gdLst/>
            <a:ahLst/>
            <a:cxnLst/>
            <a:rect r="r" b="b" t="t" l="l"/>
            <a:pathLst>
              <a:path h="1117212" w="2524773">
                <a:moveTo>
                  <a:pt x="0" y="0"/>
                </a:moveTo>
                <a:lnTo>
                  <a:pt x="2524773" y="0"/>
                </a:lnTo>
                <a:lnTo>
                  <a:pt x="2524773" y="1117212"/>
                </a:lnTo>
                <a:lnTo>
                  <a:pt x="0" y="11172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8604" y="1195007"/>
            <a:ext cx="8047415" cy="92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MoodBloom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604" y="2445429"/>
            <a:ext cx="9541440" cy="94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solusi inovatif untuk membantu mahasiswa Indonesia mengelola stress akademik dan kesehatan mental mereka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51651" y="4433649"/>
            <a:ext cx="2229193" cy="91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Luluk Nabilah Putri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41013" y="5875915"/>
            <a:ext cx="2229193" cy="50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103102400057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0176" y="4433649"/>
            <a:ext cx="2229193" cy="135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Muhammad Ilham Maulana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0176" y="5875915"/>
            <a:ext cx="2229193" cy="50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7C3AED"/>
                </a:solidFill>
                <a:latin typeface="Montserrat"/>
                <a:ea typeface="Montserrat"/>
                <a:cs typeface="Montserrat"/>
                <a:sym typeface="Montserrat"/>
              </a:rPr>
              <a:t>103102400018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80909" y="4433649"/>
            <a:ext cx="2229193" cy="135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Aghna Shava Akyela Wahjudi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80909" y="5875915"/>
            <a:ext cx="2229193" cy="50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103102400028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0176" y="7255850"/>
            <a:ext cx="2229193" cy="91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Amanda Faiza Agustin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0176" y="8252479"/>
            <a:ext cx="2229193" cy="50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FBBF24"/>
                </a:solidFill>
                <a:latin typeface="Montserrat"/>
                <a:ea typeface="Montserrat"/>
                <a:cs typeface="Montserrat"/>
                <a:sym typeface="Montserrat"/>
              </a:rPr>
              <a:t>103102400060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80909" y="7255850"/>
            <a:ext cx="2229193" cy="91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Mokhammad Bahauddin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80909" y="8252479"/>
            <a:ext cx="2229193" cy="50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103102400080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8604" y="2110569"/>
            <a:ext cx="8047415" cy="92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Latar Belakang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8604" y="3496532"/>
            <a:ext cx="17319727" cy="50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Masalah utama yang mendorong hadirnya MoodBloom.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3832" y="4374204"/>
            <a:ext cx="16414166" cy="19069"/>
            <a:chOff x="0" y="0"/>
            <a:chExt cx="21885554" cy="254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85529" cy="25400"/>
            </a:xfrm>
            <a:custGeom>
              <a:avLst/>
              <a:gdLst/>
              <a:ahLst/>
              <a:cxnLst/>
              <a:rect r="r" b="b" t="t" l="l"/>
              <a:pathLst>
                <a:path h="25400" w="2188552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872829" y="0"/>
                  </a:lnTo>
                  <a:cubicBezTo>
                    <a:pt x="21879815" y="0"/>
                    <a:pt x="21885529" y="5715"/>
                    <a:pt x="21885529" y="12700"/>
                  </a:cubicBezTo>
                  <a:cubicBezTo>
                    <a:pt x="21885529" y="19685"/>
                    <a:pt x="21879815" y="25400"/>
                    <a:pt x="2187282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84653">
                <a:alpha val="24706"/>
              </a:srgbClr>
            </a:solidFill>
            <a:ln w="9532" cap="sq">
              <a:solidFill>
                <a:srgbClr val="DFDFE0"/>
              </a:solidFill>
              <a:prstDash val="solid"/>
              <a:miter/>
            </a:ln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948604" y="4761014"/>
            <a:ext cx="5287547" cy="3394891"/>
          </a:xfrm>
          <a:custGeom>
            <a:avLst/>
            <a:gdLst/>
            <a:ahLst/>
            <a:cxnLst/>
            <a:rect r="r" b="b" t="t" l="l"/>
            <a:pathLst>
              <a:path h="3394891" w="5287547">
                <a:moveTo>
                  <a:pt x="0" y="0"/>
                </a:moveTo>
                <a:lnTo>
                  <a:pt x="5287547" y="0"/>
                </a:lnTo>
                <a:lnTo>
                  <a:pt x="5287547" y="3394891"/>
                </a:lnTo>
                <a:lnTo>
                  <a:pt x="0" y="3394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42" r="0" b="-14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10176" y="5051022"/>
            <a:ext cx="4032418" cy="46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Permasalahan Mahasiswa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0176" y="5602014"/>
            <a:ext cx="4516926" cy="181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Mahasiswa menghadapi beban akademik dan non-akademik yang memengaruhi kesehatan fisik dan mental.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6507070" y="4761014"/>
            <a:ext cx="5287547" cy="3394891"/>
          </a:xfrm>
          <a:custGeom>
            <a:avLst/>
            <a:gdLst/>
            <a:ahLst/>
            <a:cxnLst/>
            <a:rect r="r" b="b" t="t" l="l"/>
            <a:pathLst>
              <a:path h="3394891" w="5287547">
                <a:moveTo>
                  <a:pt x="0" y="0"/>
                </a:moveTo>
                <a:lnTo>
                  <a:pt x="5287547" y="0"/>
                </a:lnTo>
                <a:lnTo>
                  <a:pt x="5287547" y="3394891"/>
                </a:lnTo>
                <a:lnTo>
                  <a:pt x="0" y="33948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42" r="0" b="-14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968642" y="5051022"/>
            <a:ext cx="3839842" cy="46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Pola Hidup Tidak Teratur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68642" y="5602014"/>
            <a:ext cx="4516926" cy="181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Kurang istirahat, rendah aktivitas fisik, dan minim perhatian terhadap kesehatan menurunkan produktivitas.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2065546" y="4761014"/>
            <a:ext cx="5287699" cy="3394891"/>
          </a:xfrm>
          <a:custGeom>
            <a:avLst/>
            <a:gdLst/>
            <a:ahLst/>
            <a:cxnLst/>
            <a:rect r="r" b="b" t="t" l="l"/>
            <a:pathLst>
              <a:path h="3394891" w="5287699">
                <a:moveTo>
                  <a:pt x="0" y="0"/>
                </a:moveTo>
                <a:lnTo>
                  <a:pt x="5287699" y="0"/>
                </a:lnTo>
                <a:lnTo>
                  <a:pt x="5287699" y="3394891"/>
                </a:lnTo>
                <a:lnTo>
                  <a:pt x="0" y="33948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3" r="0" b="-14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527109" y="5051022"/>
            <a:ext cx="3566084" cy="46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Solusi Digital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27109" y="5602014"/>
            <a:ext cx="4517079" cy="224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Teknologi digital mendukung pemantauan kesehatan; MoodBloom mengintegrasikan pelacakan mood, hidrasi, tidur, produktivitas, dan AI.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0" y="0"/>
            <a:ext cx="2524773" cy="1117212"/>
          </a:xfrm>
          <a:custGeom>
            <a:avLst/>
            <a:gdLst/>
            <a:ahLst/>
            <a:cxnLst/>
            <a:rect r="r" b="b" t="t" l="l"/>
            <a:pathLst>
              <a:path h="1117212" w="2524773">
                <a:moveTo>
                  <a:pt x="0" y="0"/>
                </a:moveTo>
                <a:lnTo>
                  <a:pt x="2524773" y="0"/>
                </a:lnTo>
                <a:lnTo>
                  <a:pt x="2524773" y="1117212"/>
                </a:lnTo>
                <a:lnTo>
                  <a:pt x="0" y="11172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8604" y="1664627"/>
            <a:ext cx="9451334" cy="92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Rumusan Masalah &amp; Tujuan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8604" y="3050591"/>
            <a:ext cx="17319727" cy="50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Fokus utama dirancang agar lebih ringkas, terstruktur, dan mudah dipindai.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48604" y="4170293"/>
            <a:ext cx="7871670" cy="4126506"/>
          </a:xfrm>
          <a:custGeom>
            <a:avLst/>
            <a:gdLst/>
            <a:ahLst/>
            <a:cxnLst/>
            <a:rect r="r" b="b" t="t" l="l"/>
            <a:pathLst>
              <a:path h="4126506" w="7871670">
                <a:moveTo>
                  <a:pt x="0" y="0"/>
                </a:moveTo>
                <a:lnTo>
                  <a:pt x="7871670" y="0"/>
                </a:lnTo>
                <a:lnTo>
                  <a:pt x="7871670" y="4126506"/>
                </a:lnTo>
                <a:lnTo>
                  <a:pt x="0" y="4126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4" r="0" b="-5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0176" y="4460310"/>
            <a:ext cx="3566084" cy="46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Rumusan Masalah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0176" y="5067300"/>
            <a:ext cx="6607823" cy="262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3453" indent="-171727" lvl="1">
              <a:lnSpc>
                <a:spcPts val="3026"/>
              </a:lnSpc>
              <a:buFont typeface="Arial"/>
              <a:buChar char="•"/>
            </a:pPr>
            <a:r>
              <a:rPr lang="en-US" sz="189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Bagaimana mera</a:t>
            </a:r>
            <a:r>
              <a:rPr lang="en-US" sz="189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ncang wellness tracker terpadu untuk fisik, mental, produktivitas dalam satu platform?</a:t>
            </a:r>
          </a:p>
          <a:p>
            <a:pPr algn="l" marL="343453" indent="-171727" lvl="1">
              <a:lnSpc>
                <a:spcPts val="3026"/>
              </a:lnSpc>
              <a:buFont typeface="Arial"/>
              <a:buChar char="•"/>
            </a:pPr>
            <a:r>
              <a:rPr lang="en-US" sz="189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Bagaimana mengintegrasikan mood, hidrasi, tidur, tugas dalam aplikasi antarmuka mudah pakai?</a:t>
            </a:r>
          </a:p>
          <a:p>
            <a:pPr algn="l" marL="343453" indent="-171727" lvl="1">
              <a:lnSpc>
                <a:spcPts val="3026"/>
              </a:lnSpc>
              <a:buFont typeface="Arial"/>
              <a:buChar char="•"/>
            </a:pPr>
            <a:r>
              <a:rPr lang="en-US" sz="189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Bagaimana memanfaatkan AI untuk rekomendasi peningkatan kesejahteraan pengguna?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491101" y="4170293"/>
            <a:ext cx="7871670" cy="4126506"/>
          </a:xfrm>
          <a:custGeom>
            <a:avLst/>
            <a:gdLst/>
            <a:ahLst/>
            <a:cxnLst/>
            <a:rect r="r" b="b" t="t" l="l"/>
            <a:pathLst>
              <a:path h="4126506" w="7871670">
                <a:moveTo>
                  <a:pt x="0" y="0"/>
                </a:moveTo>
                <a:lnTo>
                  <a:pt x="7871669" y="0"/>
                </a:lnTo>
                <a:lnTo>
                  <a:pt x="7871669" y="4126506"/>
                </a:lnTo>
                <a:lnTo>
                  <a:pt x="0" y="4126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4" r="0" b="-5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52672" y="4460310"/>
            <a:ext cx="3566084" cy="46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Tujuan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52672" y="5119726"/>
            <a:ext cx="7101049" cy="286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2" indent="-190321" lvl="1">
              <a:lnSpc>
                <a:spcPts val="3354"/>
              </a:lnSpc>
              <a:buFont typeface="Arial"/>
              <a:buChar char="•"/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Membangun aplikasi terintegrasi untuk pemantauan kesehatan dan produktivitas</a:t>
            </a:r>
          </a:p>
          <a:p>
            <a:pPr algn="l" marL="380642" indent="-190321" lvl="1">
              <a:lnSpc>
                <a:spcPts val="3354"/>
              </a:lnSpc>
              <a:buFont typeface="Arial"/>
              <a:buChar char="•"/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Menyusun fitur harian yang mudah digunakan dan diakses efisien</a:t>
            </a:r>
          </a:p>
          <a:p>
            <a:pPr algn="l" marL="380642" indent="-190321" lvl="1">
              <a:lnSpc>
                <a:spcPts val="3354"/>
              </a:lnSpc>
              <a:buFont typeface="Arial"/>
              <a:buChar char="•"/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Mengaplikasikan AI untuk rekomendasi dan insight personal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0" y="0"/>
            <a:ext cx="2524773" cy="1117212"/>
          </a:xfrm>
          <a:custGeom>
            <a:avLst/>
            <a:gdLst/>
            <a:ahLst/>
            <a:cxnLst/>
            <a:rect r="r" b="b" t="t" l="l"/>
            <a:pathLst>
              <a:path h="1117212" w="2524773">
                <a:moveTo>
                  <a:pt x="0" y="0"/>
                </a:moveTo>
                <a:lnTo>
                  <a:pt x="2524773" y="0"/>
                </a:lnTo>
                <a:lnTo>
                  <a:pt x="2524773" y="1117212"/>
                </a:lnTo>
                <a:lnTo>
                  <a:pt x="0" y="1117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7652510" y="1820628"/>
            <a:ext cx="10007479" cy="1056913"/>
          </a:xfrm>
          <a:custGeom>
            <a:avLst/>
            <a:gdLst/>
            <a:ahLst/>
            <a:cxnLst/>
            <a:rect r="r" b="b" t="t" l="l"/>
            <a:pathLst>
              <a:path h="1056913" w="10007479">
                <a:moveTo>
                  <a:pt x="0" y="0"/>
                </a:moveTo>
                <a:lnTo>
                  <a:pt x="10007479" y="0"/>
                </a:lnTo>
                <a:lnTo>
                  <a:pt x="10007479" y="1056913"/>
                </a:lnTo>
                <a:lnTo>
                  <a:pt x="0" y="1056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51" r="0" b="-45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7886948" y="2216820"/>
            <a:ext cx="264223" cy="264224"/>
          </a:xfrm>
          <a:custGeom>
            <a:avLst/>
            <a:gdLst/>
            <a:ahLst/>
            <a:cxnLst/>
            <a:rect r="r" b="b" t="t" l="l"/>
            <a:pathLst>
              <a:path h="264224" w="264223">
                <a:moveTo>
                  <a:pt x="0" y="0"/>
                </a:moveTo>
                <a:lnTo>
                  <a:pt x="264224" y="0"/>
                </a:lnTo>
                <a:lnTo>
                  <a:pt x="264224" y="264223"/>
                </a:lnTo>
                <a:lnTo>
                  <a:pt x="0" y="2642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356" t="0" r="-5360" b="0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7652510" y="2991926"/>
            <a:ext cx="10007479" cy="1056913"/>
          </a:xfrm>
          <a:custGeom>
            <a:avLst/>
            <a:gdLst/>
            <a:ahLst/>
            <a:cxnLst/>
            <a:rect r="r" b="b" t="t" l="l"/>
            <a:pathLst>
              <a:path h="1056913" w="10007479">
                <a:moveTo>
                  <a:pt x="0" y="0"/>
                </a:moveTo>
                <a:lnTo>
                  <a:pt x="10007479" y="0"/>
                </a:lnTo>
                <a:lnTo>
                  <a:pt x="10007479" y="1056913"/>
                </a:lnTo>
                <a:lnTo>
                  <a:pt x="0" y="1056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51" r="0" b="-450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7886948" y="3388119"/>
            <a:ext cx="264223" cy="264224"/>
          </a:xfrm>
          <a:custGeom>
            <a:avLst/>
            <a:gdLst/>
            <a:ahLst/>
            <a:cxnLst/>
            <a:rect r="r" b="b" t="t" l="l"/>
            <a:pathLst>
              <a:path h="264224" w="264223">
                <a:moveTo>
                  <a:pt x="0" y="0"/>
                </a:moveTo>
                <a:lnTo>
                  <a:pt x="264224" y="0"/>
                </a:lnTo>
                <a:lnTo>
                  <a:pt x="264224" y="264223"/>
                </a:lnTo>
                <a:lnTo>
                  <a:pt x="0" y="264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" t="0" r="1" b="0"/>
            </a:stretch>
          </a:blipFill>
        </p:spPr>
      </p:sp>
      <p:sp>
        <p:nvSpPr>
          <p:cNvPr name="Freeform 10" id="10" descr="preencoded.png"/>
          <p:cNvSpPr/>
          <p:nvPr/>
        </p:nvSpPr>
        <p:spPr>
          <a:xfrm flipH="false" flipV="false" rot="0">
            <a:off x="7652510" y="4163225"/>
            <a:ext cx="10007479" cy="1056913"/>
          </a:xfrm>
          <a:custGeom>
            <a:avLst/>
            <a:gdLst/>
            <a:ahLst/>
            <a:cxnLst/>
            <a:rect r="r" b="b" t="t" l="l"/>
            <a:pathLst>
              <a:path h="1056913" w="10007479">
                <a:moveTo>
                  <a:pt x="0" y="0"/>
                </a:moveTo>
                <a:lnTo>
                  <a:pt x="10007479" y="0"/>
                </a:lnTo>
                <a:lnTo>
                  <a:pt x="10007479" y="1056913"/>
                </a:lnTo>
                <a:lnTo>
                  <a:pt x="0" y="10569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451" r="0" b="-450"/>
            </a:stretch>
          </a:blipFill>
        </p:spPr>
      </p:sp>
      <p:sp>
        <p:nvSpPr>
          <p:cNvPr name="Freeform 11" id="11" descr="preencoded.png"/>
          <p:cNvSpPr/>
          <p:nvPr/>
        </p:nvSpPr>
        <p:spPr>
          <a:xfrm flipH="false" flipV="false" rot="0">
            <a:off x="7886948" y="4559417"/>
            <a:ext cx="264223" cy="264224"/>
          </a:xfrm>
          <a:custGeom>
            <a:avLst/>
            <a:gdLst/>
            <a:ahLst/>
            <a:cxnLst/>
            <a:rect r="r" b="b" t="t" l="l"/>
            <a:pathLst>
              <a:path h="264224" w="264223">
                <a:moveTo>
                  <a:pt x="0" y="0"/>
                </a:moveTo>
                <a:lnTo>
                  <a:pt x="264224" y="0"/>
                </a:lnTo>
                <a:lnTo>
                  <a:pt x="264224" y="264224"/>
                </a:lnTo>
                <a:lnTo>
                  <a:pt x="0" y="2642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0713" r="0" b="-10713"/>
            </a:stretch>
          </a:blipFill>
        </p:spPr>
      </p:sp>
      <p:sp>
        <p:nvSpPr>
          <p:cNvPr name="Freeform 12" id="12" descr="preencoded.png"/>
          <p:cNvSpPr/>
          <p:nvPr/>
        </p:nvSpPr>
        <p:spPr>
          <a:xfrm flipH="false" flipV="false" rot="0">
            <a:off x="7652510" y="5334524"/>
            <a:ext cx="10007479" cy="1056913"/>
          </a:xfrm>
          <a:custGeom>
            <a:avLst/>
            <a:gdLst/>
            <a:ahLst/>
            <a:cxnLst/>
            <a:rect r="r" b="b" t="t" l="l"/>
            <a:pathLst>
              <a:path h="1056913" w="10007479">
                <a:moveTo>
                  <a:pt x="0" y="0"/>
                </a:moveTo>
                <a:lnTo>
                  <a:pt x="10007479" y="0"/>
                </a:lnTo>
                <a:lnTo>
                  <a:pt x="10007479" y="1056913"/>
                </a:lnTo>
                <a:lnTo>
                  <a:pt x="0" y="10569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451" r="0" b="-450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7886948" y="5730716"/>
            <a:ext cx="264223" cy="264224"/>
          </a:xfrm>
          <a:custGeom>
            <a:avLst/>
            <a:gdLst/>
            <a:ahLst/>
            <a:cxnLst/>
            <a:rect r="r" b="b" t="t" l="l"/>
            <a:pathLst>
              <a:path h="264224" w="264223">
                <a:moveTo>
                  <a:pt x="0" y="0"/>
                </a:moveTo>
                <a:lnTo>
                  <a:pt x="264224" y="0"/>
                </a:lnTo>
                <a:lnTo>
                  <a:pt x="264224" y="264224"/>
                </a:lnTo>
                <a:lnTo>
                  <a:pt x="0" y="2642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8925" r="0" b="-8929"/>
            </a:stretch>
          </a:blipFill>
        </p:spPr>
      </p:sp>
      <p:sp>
        <p:nvSpPr>
          <p:cNvPr name="Freeform 14" id="14" descr="preencoded.png"/>
          <p:cNvSpPr/>
          <p:nvPr/>
        </p:nvSpPr>
        <p:spPr>
          <a:xfrm flipH="false" flipV="false" rot="0">
            <a:off x="7652510" y="6505823"/>
            <a:ext cx="10007479" cy="1056913"/>
          </a:xfrm>
          <a:custGeom>
            <a:avLst/>
            <a:gdLst/>
            <a:ahLst/>
            <a:cxnLst/>
            <a:rect r="r" b="b" t="t" l="l"/>
            <a:pathLst>
              <a:path h="1056913" w="10007479">
                <a:moveTo>
                  <a:pt x="0" y="0"/>
                </a:moveTo>
                <a:lnTo>
                  <a:pt x="10007479" y="0"/>
                </a:lnTo>
                <a:lnTo>
                  <a:pt x="10007479" y="1056913"/>
                </a:lnTo>
                <a:lnTo>
                  <a:pt x="0" y="105691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451" r="0" b="-450"/>
            </a:stretch>
          </a:blipFill>
        </p:spPr>
      </p:sp>
      <p:sp>
        <p:nvSpPr>
          <p:cNvPr name="Freeform 15" id="15" descr="preencoded.png"/>
          <p:cNvSpPr/>
          <p:nvPr/>
        </p:nvSpPr>
        <p:spPr>
          <a:xfrm flipH="false" flipV="false" rot="0">
            <a:off x="7886948" y="6902015"/>
            <a:ext cx="264223" cy="264223"/>
          </a:xfrm>
          <a:custGeom>
            <a:avLst/>
            <a:gdLst/>
            <a:ahLst/>
            <a:cxnLst/>
            <a:rect r="r" b="b" t="t" l="l"/>
            <a:pathLst>
              <a:path h="264223" w="264223">
                <a:moveTo>
                  <a:pt x="0" y="0"/>
                </a:moveTo>
                <a:lnTo>
                  <a:pt x="264224" y="0"/>
                </a:lnTo>
                <a:lnTo>
                  <a:pt x="264224" y="264224"/>
                </a:lnTo>
                <a:lnTo>
                  <a:pt x="0" y="26422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5356" t="0" r="-5360" b="0"/>
            </a:stretch>
          </a:blipFill>
        </p:spPr>
      </p:sp>
      <p:sp>
        <p:nvSpPr>
          <p:cNvPr name="Freeform 16" id="16" descr="preencoded.png"/>
          <p:cNvSpPr/>
          <p:nvPr/>
        </p:nvSpPr>
        <p:spPr>
          <a:xfrm flipH="false" flipV="false" rot="0">
            <a:off x="7652510" y="7677121"/>
            <a:ext cx="10007479" cy="1056913"/>
          </a:xfrm>
          <a:custGeom>
            <a:avLst/>
            <a:gdLst/>
            <a:ahLst/>
            <a:cxnLst/>
            <a:rect r="r" b="b" t="t" l="l"/>
            <a:pathLst>
              <a:path h="1056913" w="10007479">
                <a:moveTo>
                  <a:pt x="0" y="0"/>
                </a:moveTo>
                <a:lnTo>
                  <a:pt x="10007479" y="0"/>
                </a:lnTo>
                <a:lnTo>
                  <a:pt x="10007479" y="1056913"/>
                </a:lnTo>
                <a:lnTo>
                  <a:pt x="0" y="105691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-451" r="0" b="-450"/>
            </a:stretch>
          </a:blipFill>
        </p:spPr>
      </p:sp>
      <p:sp>
        <p:nvSpPr>
          <p:cNvPr name="Freeform 17" id="17" descr="preencoded.png"/>
          <p:cNvSpPr/>
          <p:nvPr/>
        </p:nvSpPr>
        <p:spPr>
          <a:xfrm flipH="false" flipV="false" rot="0">
            <a:off x="7886948" y="8073314"/>
            <a:ext cx="264223" cy="264223"/>
          </a:xfrm>
          <a:custGeom>
            <a:avLst/>
            <a:gdLst/>
            <a:ahLst/>
            <a:cxnLst/>
            <a:rect r="r" b="b" t="t" l="l"/>
            <a:pathLst>
              <a:path h="264223" w="264223">
                <a:moveTo>
                  <a:pt x="0" y="0"/>
                </a:moveTo>
                <a:lnTo>
                  <a:pt x="264224" y="0"/>
                </a:lnTo>
                <a:lnTo>
                  <a:pt x="264224" y="264223"/>
                </a:lnTo>
                <a:lnTo>
                  <a:pt x="0" y="26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-7144" t="0" r="-7141" b="0"/>
            </a:stretch>
          </a:blipFill>
        </p:spPr>
      </p:sp>
      <p:sp>
        <p:nvSpPr>
          <p:cNvPr name="Freeform 18" id="18" descr="preencoded.png"/>
          <p:cNvSpPr/>
          <p:nvPr/>
        </p:nvSpPr>
        <p:spPr>
          <a:xfrm flipH="false" flipV="false" rot="0">
            <a:off x="7652510" y="8848430"/>
            <a:ext cx="10007479" cy="1056913"/>
          </a:xfrm>
          <a:custGeom>
            <a:avLst/>
            <a:gdLst/>
            <a:ahLst/>
            <a:cxnLst/>
            <a:rect r="r" b="b" t="t" l="l"/>
            <a:pathLst>
              <a:path h="1056913" w="10007479">
                <a:moveTo>
                  <a:pt x="0" y="0"/>
                </a:moveTo>
                <a:lnTo>
                  <a:pt x="10007479" y="0"/>
                </a:lnTo>
                <a:lnTo>
                  <a:pt x="10007479" y="1056913"/>
                </a:lnTo>
                <a:lnTo>
                  <a:pt x="0" y="105691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-451" r="0" b="-450"/>
            </a:stretch>
          </a:blipFill>
        </p:spPr>
      </p:sp>
      <p:sp>
        <p:nvSpPr>
          <p:cNvPr name="Freeform 19" id="19" descr="preencoded.png"/>
          <p:cNvSpPr/>
          <p:nvPr/>
        </p:nvSpPr>
        <p:spPr>
          <a:xfrm flipH="false" flipV="false" rot="0">
            <a:off x="7886948" y="9244622"/>
            <a:ext cx="264223" cy="264223"/>
          </a:xfrm>
          <a:custGeom>
            <a:avLst/>
            <a:gdLst/>
            <a:ahLst/>
            <a:cxnLst/>
            <a:rect r="r" b="b" t="t" l="l"/>
            <a:pathLst>
              <a:path h="264223" w="264223">
                <a:moveTo>
                  <a:pt x="0" y="0"/>
                </a:moveTo>
                <a:lnTo>
                  <a:pt x="264224" y="0"/>
                </a:lnTo>
                <a:lnTo>
                  <a:pt x="264224" y="264224"/>
                </a:lnTo>
                <a:lnTo>
                  <a:pt x="0" y="26422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-5356" t="0" r="-536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0" y="0"/>
            <a:ext cx="2524773" cy="1117212"/>
          </a:xfrm>
          <a:custGeom>
            <a:avLst/>
            <a:gdLst/>
            <a:ahLst/>
            <a:cxnLst/>
            <a:rect r="r" b="b" t="t" l="l"/>
            <a:pathLst>
              <a:path h="1117212" w="2524773">
                <a:moveTo>
                  <a:pt x="0" y="0"/>
                </a:moveTo>
                <a:lnTo>
                  <a:pt x="2524773" y="0"/>
                </a:lnTo>
                <a:lnTo>
                  <a:pt x="2524773" y="1117212"/>
                </a:lnTo>
                <a:lnTo>
                  <a:pt x="0" y="1117212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-640554" y="2534297"/>
            <a:ext cx="8221759" cy="14123711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853059" y="999412"/>
            <a:ext cx="5551170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Pengenalan Aplikasi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3059" y="1590702"/>
            <a:ext cx="6193790" cy="215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3"/>
              </a:lnSpc>
            </a:pPr>
            <a:r>
              <a:rPr lang="en-US" sz="2191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MoodBloom</a:t>
            </a:r>
            <a:r>
              <a:rPr lang="en-US" sz="219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adalah </a:t>
            </a:r>
            <a:r>
              <a:rPr lang="en-US" sz="2191" i="true">
                <a:solidFill>
                  <a:srgbClr val="384653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wellness tracker app</a:t>
            </a:r>
            <a:r>
              <a:rPr lang="en-US" sz="219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untuk pengguna dari berbagai kalangan yang dapat digunakan untuk membantu mengelola stres, menjaga kesehatan mental, dan tetap produktif dalam satu platform.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90605" y="1996697"/>
            <a:ext cx="1279565" cy="33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Dashboard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90605" y="2391261"/>
            <a:ext cx="8974274" cy="28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75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Pelacakan suasana hati harian dan tugas penting.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90605" y="3167996"/>
            <a:ext cx="821412" cy="32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Jadwal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90605" y="3562560"/>
            <a:ext cx="8974274" cy="28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75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Organisir kegiatan akademik dan personal dengan mudah.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90605" y="4339295"/>
            <a:ext cx="2010251" cy="32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Hydration System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90605" y="4733858"/>
            <a:ext cx="8974274" cy="30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85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Pengingat minum agar tetap fokus dan sehat.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90605" y="5510594"/>
            <a:ext cx="1133029" cy="32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Zen Oasis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90605" y="5905157"/>
            <a:ext cx="8974274" cy="30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85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Sesi meditasi terpandu untuk relaksasi.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90605" y="6681892"/>
            <a:ext cx="902732" cy="32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Insights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90605" y="7076456"/>
            <a:ext cx="8974274" cy="30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85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Analisis pola mood dan tips personal.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90605" y="7853191"/>
            <a:ext cx="1442442" cy="32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Gamification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90605" y="8247755"/>
            <a:ext cx="8974274" cy="30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85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Pencapaian dan penghargaan virtual untuk motivasi.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90605" y="9024490"/>
            <a:ext cx="1245989" cy="32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01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Cloud Sync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490605" y="9419053"/>
            <a:ext cx="8974274" cy="30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85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Data aman dan bisa diakses dari mana saja.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02083" y="1019175"/>
            <a:ext cx="4214068" cy="54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Fitur - Fitur  Aplikasi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37135" y="2344807"/>
            <a:ext cx="4182666" cy="55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3551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Tech Stack Frontend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837135" y="3324499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1" y="0"/>
                </a:lnTo>
                <a:lnTo>
                  <a:pt x="16404631" y="743235"/>
                </a:lnTo>
                <a:lnTo>
                  <a:pt x="0" y="743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1006184" y="3547932"/>
            <a:ext cx="240965" cy="240977"/>
          </a:xfrm>
          <a:custGeom>
            <a:avLst/>
            <a:gdLst/>
            <a:ahLst/>
            <a:cxnLst/>
            <a:rect r="r" b="b" t="t" l="l"/>
            <a:pathLst>
              <a:path h="240977" w="240965">
                <a:moveTo>
                  <a:pt x="0" y="0"/>
                </a:moveTo>
                <a:lnTo>
                  <a:pt x="240965" y="0"/>
                </a:lnTo>
                <a:lnTo>
                  <a:pt x="240965" y="240977"/>
                </a:lnTo>
                <a:lnTo>
                  <a:pt x="0" y="240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" t="0" r="-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08177" y="3448285"/>
            <a:ext cx="1021556" cy="34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17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React 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8177" y="3747976"/>
            <a:ext cx="9398556" cy="25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sz="173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Library UI utama untuk membangun antarmuka yang cepat, modular, dan responsif.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837135" y="4124332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1" y="0"/>
                </a:lnTo>
                <a:lnTo>
                  <a:pt x="16404631" y="743236"/>
                </a:lnTo>
                <a:lnTo>
                  <a:pt x="0" y="7432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12" id="12" descr="preencoded.png"/>
          <p:cNvSpPr/>
          <p:nvPr/>
        </p:nvSpPr>
        <p:spPr>
          <a:xfrm flipH="false" flipV="false" rot="0">
            <a:off x="1006184" y="4338559"/>
            <a:ext cx="250171" cy="250183"/>
          </a:xfrm>
          <a:custGeom>
            <a:avLst/>
            <a:gdLst/>
            <a:ahLst/>
            <a:cxnLst/>
            <a:rect r="r" b="b" t="t" l="l"/>
            <a:pathLst>
              <a:path h="250183" w="250171">
                <a:moveTo>
                  <a:pt x="0" y="0"/>
                </a:moveTo>
                <a:lnTo>
                  <a:pt x="250171" y="0"/>
                </a:lnTo>
                <a:lnTo>
                  <a:pt x="250171" y="250183"/>
                </a:lnTo>
                <a:lnTo>
                  <a:pt x="0" y="2501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000" t="0" r="-500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08177" y="4257644"/>
            <a:ext cx="488632" cy="32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133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Vite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8177" y="4551140"/>
            <a:ext cx="10194013" cy="24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Tooling build modern yang mempercepat development, refresh, dan proses bundling aplikasi.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837135" y="4924156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1" y="0"/>
                </a:lnTo>
                <a:lnTo>
                  <a:pt x="16404631" y="743235"/>
                </a:lnTo>
                <a:lnTo>
                  <a:pt x="0" y="7432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16" id="16" descr="preencoded.png"/>
          <p:cNvSpPr/>
          <p:nvPr/>
        </p:nvSpPr>
        <p:spPr>
          <a:xfrm flipH="false" flipV="false" rot="0">
            <a:off x="999519" y="5200943"/>
            <a:ext cx="254295" cy="254308"/>
          </a:xfrm>
          <a:custGeom>
            <a:avLst/>
            <a:gdLst/>
            <a:ahLst/>
            <a:cxnLst/>
            <a:rect r="r" b="b" t="t" l="l"/>
            <a:pathLst>
              <a:path h="254308" w="254295">
                <a:moveTo>
                  <a:pt x="0" y="0"/>
                </a:moveTo>
                <a:lnTo>
                  <a:pt x="254295" y="0"/>
                </a:lnTo>
                <a:lnTo>
                  <a:pt x="254295" y="254308"/>
                </a:lnTo>
                <a:lnTo>
                  <a:pt x="0" y="254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" t="0" r="-3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08177" y="5057467"/>
            <a:ext cx="1861304" cy="34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232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Tailwind CSS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8177" y="5364225"/>
            <a:ext cx="10431185" cy="25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77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Utility-first styling untuk menciptakan tampilan yang konsisten, fleksibel, dan mudah diatur.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837135" y="5723989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1" y="0"/>
                </a:lnTo>
                <a:lnTo>
                  <a:pt x="16404631" y="743236"/>
                </a:lnTo>
                <a:lnTo>
                  <a:pt x="0" y="7432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20" id="20" descr="preencoded.png"/>
          <p:cNvSpPr/>
          <p:nvPr/>
        </p:nvSpPr>
        <p:spPr>
          <a:xfrm flipH="false" flipV="false" rot="0">
            <a:off x="999510" y="5968448"/>
            <a:ext cx="254304" cy="254318"/>
          </a:xfrm>
          <a:custGeom>
            <a:avLst/>
            <a:gdLst/>
            <a:ahLst/>
            <a:cxnLst/>
            <a:rect r="r" b="b" t="t" l="l"/>
            <a:pathLst>
              <a:path h="254318" w="254304">
                <a:moveTo>
                  <a:pt x="0" y="0"/>
                </a:moveTo>
                <a:lnTo>
                  <a:pt x="254304" y="0"/>
                </a:lnTo>
                <a:lnTo>
                  <a:pt x="254304" y="254318"/>
                </a:lnTo>
                <a:lnTo>
                  <a:pt x="0" y="25431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" t="0" r="-3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08177" y="5847776"/>
            <a:ext cx="1046083" cy="35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272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Zustand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8177" y="6159989"/>
            <a:ext cx="10459284" cy="2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809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State management ringan untuk menyimpan dan mengelola status aplikasi secara efisien.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837135" y="6523822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1" y="0"/>
                </a:lnTo>
                <a:lnTo>
                  <a:pt x="16404631" y="743236"/>
                </a:lnTo>
                <a:lnTo>
                  <a:pt x="0" y="74323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24" id="24" descr="preencoded.png"/>
          <p:cNvSpPr/>
          <p:nvPr/>
        </p:nvSpPr>
        <p:spPr>
          <a:xfrm flipH="false" flipV="false" rot="0">
            <a:off x="1006184" y="6772025"/>
            <a:ext cx="254295" cy="254308"/>
          </a:xfrm>
          <a:custGeom>
            <a:avLst/>
            <a:gdLst/>
            <a:ahLst/>
            <a:cxnLst/>
            <a:rect r="r" b="b" t="t" l="l"/>
            <a:pathLst>
              <a:path h="254308" w="254295">
                <a:moveTo>
                  <a:pt x="0" y="0"/>
                </a:moveTo>
                <a:lnTo>
                  <a:pt x="254295" y="0"/>
                </a:lnTo>
                <a:lnTo>
                  <a:pt x="254295" y="254308"/>
                </a:lnTo>
                <a:lnTo>
                  <a:pt x="0" y="25430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4999" r="0" b="-4994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08177" y="6657134"/>
            <a:ext cx="1894880" cy="35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8"/>
              </a:lnSpc>
            </a:pPr>
            <a:r>
              <a:rPr lang="en-US" sz="2314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Framer </a:t>
            </a:r>
            <a:r>
              <a:rPr lang="en-US" sz="2314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Motion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8177" y="6965506"/>
            <a:ext cx="10771823" cy="27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184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Digunakan untuk animasi halus, transisi yang lebih hidup, dan interaksi yang terasa natural.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0" y="0"/>
            <a:ext cx="2065429" cy="913952"/>
          </a:xfrm>
          <a:custGeom>
            <a:avLst/>
            <a:gdLst/>
            <a:ahLst/>
            <a:cxnLst/>
            <a:rect r="r" b="b" t="t" l="l"/>
            <a:pathLst>
              <a:path h="913952" w="2065429">
                <a:moveTo>
                  <a:pt x="0" y="0"/>
                </a:moveTo>
                <a:lnTo>
                  <a:pt x="2065429" y="0"/>
                </a:lnTo>
                <a:lnTo>
                  <a:pt x="2065429" y="913952"/>
                </a:lnTo>
                <a:lnTo>
                  <a:pt x="0" y="91395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8" id="28" descr="preencoded.png"/>
          <p:cNvSpPr/>
          <p:nvPr/>
        </p:nvSpPr>
        <p:spPr>
          <a:xfrm flipH="false" flipV="false" rot="0">
            <a:off x="837135" y="7267058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1" y="0"/>
                </a:lnTo>
                <a:lnTo>
                  <a:pt x="16404631" y="743236"/>
                </a:lnTo>
                <a:lnTo>
                  <a:pt x="0" y="74323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29" id="29" descr="preencoded.png"/>
          <p:cNvSpPr/>
          <p:nvPr/>
        </p:nvSpPr>
        <p:spPr>
          <a:xfrm flipH="false" flipV="false" rot="0">
            <a:off x="1006184" y="7476223"/>
            <a:ext cx="255232" cy="255246"/>
          </a:xfrm>
          <a:custGeom>
            <a:avLst/>
            <a:gdLst/>
            <a:ahLst/>
            <a:cxnLst/>
            <a:rect r="r" b="b" t="t" l="l"/>
            <a:pathLst>
              <a:path h="255246" w="255232">
                <a:moveTo>
                  <a:pt x="0" y="0"/>
                </a:moveTo>
                <a:lnTo>
                  <a:pt x="255233" y="0"/>
                </a:lnTo>
                <a:lnTo>
                  <a:pt x="255233" y="255245"/>
                </a:lnTo>
                <a:lnTo>
                  <a:pt x="0" y="25524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" t="0" r="-3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72622" y="7356162"/>
            <a:ext cx="1552354" cy="33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9"/>
              </a:lnSpc>
            </a:pPr>
            <a:r>
              <a:rPr lang="en-US" sz="2098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Lucide React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72622" y="7665487"/>
            <a:ext cx="8753055" cy="23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6"/>
              </a:lnSpc>
            </a:pPr>
            <a:r>
              <a:rPr lang="en-US" sz="165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Koleksi ikon yang bersih dan konsisten untuk memperjelas navigasi serta status UI.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8604" y="2440932"/>
            <a:ext cx="4204097" cy="56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3651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Tech Stack Backend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48604" y="4142428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2" y="0"/>
                </a:lnTo>
                <a:lnTo>
                  <a:pt x="16404632" y="743235"/>
                </a:lnTo>
                <a:lnTo>
                  <a:pt x="0" y="743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1117654" y="4351592"/>
            <a:ext cx="255232" cy="255246"/>
          </a:xfrm>
          <a:custGeom>
            <a:avLst/>
            <a:gdLst/>
            <a:ahLst/>
            <a:cxnLst/>
            <a:rect r="r" b="b" t="t" l="l"/>
            <a:pathLst>
              <a:path h="255246" w="255232">
                <a:moveTo>
                  <a:pt x="0" y="0"/>
                </a:moveTo>
                <a:lnTo>
                  <a:pt x="255232" y="0"/>
                </a:lnTo>
                <a:lnTo>
                  <a:pt x="255232" y="255246"/>
                </a:lnTo>
                <a:lnTo>
                  <a:pt x="0" y="255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" t="0" r="-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9647" y="4192569"/>
            <a:ext cx="1244549" cy="32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2108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Express.js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9647" y="4493683"/>
            <a:ext cx="11000735" cy="235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1663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Framework backend untuk menangani routing, API, dan logika server dengan struktur yang sederhana.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48604" y="4942261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2" y="0"/>
                </a:lnTo>
                <a:lnTo>
                  <a:pt x="16404632" y="743236"/>
                </a:lnTo>
                <a:lnTo>
                  <a:pt x="0" y="7432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12" id="12" descr="preencoded.png"/>
          <p:cNvSpPr/>
          <p:nvPr/>
        </p:nvSpPr>
        <p:spPr>
          <a:xfrm flipH="false" flipV="false" rot="0">
            <a:off x="1117654" y="5152659"/>
            <a:ext cx="254000" cy="254013"/>
          </a:xfrm>
          <a:custGeom>
            <a:avLst/>
            <a:gdLst/>
            <a:ahLst/>
            <a:cxnLst/>
            <a:rect r="r" b="b" t="t" l="l"/>
            <a:pathLst>
              <a:path h="254013" w="254000">
                <a:moveTo>
                  <a:pt x="0" y="0"/>
                </a:moveTo>
                <a:lnTo>
                  <a:pt x="253999" y="0"/>
                </a:lnTo>
                <a:lnTo>
                  <a:pt x="253999" y="254012"/>
                </a:lnTo>
                <a:lnTo>
                  <a:pt x="0" y="2540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497" r="0" b="-749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19647" y="4982667"/>
            <a:ext cx="1059487" cy="33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14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Firebase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9647" y="5288990"/>
            <a:ext cx="10133422" cy="24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1"/>
              </a:lnSpc>
            </a:pPr>
            <a:r>
              <a:rPr lang="en-US" sz="1693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Menangani Firestore dan Auth untuk penyimpanan data real-time dan autentikasi pengguna.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48604" y="5742094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2" y="0"/>
                </a:lnTo>
                <a:lnTo>
                  <a:pt x="16404632" y="743236"/>
                </a:lnTo>
                <a:lnTo>
                  <a:pt x="0" y="7432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16" id="16" descr="preencoded.png"/>
          <p:cNvSpPr/>
          <p:nvPr/>
        </p:nvSpPr>
        <p:spPr>
          <a:xfrm flipH="false" flipV="false" rot="0">
            <a:off x="1117654" y="5952492"/>
            <a:ext cx="254000" cy="254013"/>
          </a:xfrm>
          <a:custGeom>
            <a:avLst/>
            <a:gdLst/>
            <a:ahLst/>
            <a:cxnLst/>
            <a:rect r="r" b="b" t="t" l="l"/>
            <a:pathLst>
              <a:path h="254013" w="254000">
                <a:moveTo>
                  <a:pt x="0" y="0"/>
                </a:moveTo>
                <a:lnTo>
                  <a:pt x="253999" y="0"/>
                </a:lnTo>
                <a:lnTo>
                  <a:pt x="253999" y="254013"/>
                </a:lnTo>
                <a:lnTo>
                  <a:pt x="0" y="2540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7497" r="0" b="-749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19647" y="5766997"/>
            <a:ext cx="2258994" cy="33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20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Google Gemini API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9647" y="6072096"/>
            <a:ext cx="10769477" cy="25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74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Memberikan kemampuan AI untuk insight personal, analisis, dan pengalaman yang lebih cerdas.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48604" y="6541918"/>
            <a:ext cx="16404631" cy="743236"/>
          </a:xfrm>
          <a:custGeom>
            <a:avLst/>
            <a:gdLst/>
            <a:ahLst/>
            <a:cxnLst/>
            <a:rect r="r" b="b" t="t" l="l"/>
            <a:pathLst>
              <a:path h="743236" w="16404631">
                <a:moveTo>
                  <a:pt x="0" y="0"/>
                </a:moveTo>
                <a:lnTo>
                  <a:pt x="16404632" y="0"/>
                </a:lnTo>
                <a:lnTo>
                  <a:pt x="16404632" y="743236"/>
                </a:lnTo>
                <a:lnTo>
                  <a:pt x="0" y="7432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599" r="0" b="-601"/>
            </a:stretch>
          </a:blipFill>
        </p:spPr>
      </p:sp>
      <p:sp>
        <p:nvSpPr>
          <p:cNvPr name="Freeform 20" id="20" descr="preencoded.png"/>
          <p:cNvSpPr/>
          <p:nvPr/>
        </p:nvSpPr>
        <p:spPr>
          <a:xfrm flipH="false" flipV="false" rot="0">
            <a:off x="1117654" y="6751092"/>
            <a:ext cx="255232" cy="255246"/>
          </a:xfrm>
          <a:custGeom>
            <a:avLst/>
            <a:gdLst/>
            <a:ahLst/>
            <a:cxnLst/>
            <a:rect r="r" b="b" t="t" l="l"/>
            <a:pathLst>
              <a:path h="255246" w="255232">
                <a:moveTo>
                  <a:pt x="0" y="0"/>
                </a:moveTo>
                <a:lnTo>
                  <a:pt x="255232" y="0"/>
                </a:lnTo>
                <a:lnTo>
                  <a:pt x="255232" y="255246"/>
                </a:lnTo>
                <a:lnTo>
                  <a:pt x="0" y="2552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14999" r="0" b="-1499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19647" y="6580580"/>
            <a:ext cx="1275979" cy="33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54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Strava API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9647" y="6887847"/>
            <a:ext cx="9205573" cy="24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7"/>
              </a:lnSpc>
            </a:pPr>
            <a:r>
              <a:rPr lang="en-US" sz="1699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Integrasi aktivitas fitness untuk mendukung data kesehatan dan aktivitas pengguna.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0" y="0"/>
            <a:ext cx="2065429" cy="913952"/>
          </a:xfrm>
          <a:custGeom>
            <a:avLst/>
            <a:gdLst/>
            <a:ahLst/>
            <a:cxnLst/>
            <a:rect r="r" b="b" t="t" l="l"/>
            <a:pathLst>
              <a:path h="913952" w="2065429">
                <a:moveTo>
                  <a:pt x="0" y="0"/>
                </a:moveTo>
                <a:lnTo>
                  <a:pt x="2065429" y="0"/>
                </a:lnTo>
                <a:lnTo>
                  <a:pt x="2065429" y="913952"/>
                </a:lnTo>
                <a:lnTo>
                  <a:pt x="0" y="9139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6348" cy="10295039"/>
            <a:chOff x="0" y="0"/>
            <a:chExt cx="9608464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206348" cy="10295039"/>
            <a:chOff x="0" y="0"/>
            <a:chExt cx="9608464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650" y="-8039"/>
            <a:ext cx="7206348" cy="10295039"/>
            <a:chOff x="0" y="0"/>
            <a:chExt cx="9608464" cy="13726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478" r="0" b="-1747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07023" y="2663428"/>
            <a:ext cx="9550975" cy="19069"/>
            <a:chOff x="0" y="0"/>
            <a:chExt cx="12734633" cy="254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34671" cy="25400"/>
            </a:xfrm>
            <a:custGeom>
              <a:avLst/>
              <a:gdLst/>
              <a:ahLst/>
              <a:cxnLst/>
              <a:rect r="r" b="b" t="t" l="l"/>
              <a:pathLst>
                <a:path h="25400" w="1273467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721971" y="0"/>
                  </a:lnTo>
                  <a:cubicBezTo>
                    <a:pt x="12728956" y="0"/>
                    <a:pt x="12734671" y="5715"/>
                    <a:pt x="12734671" y="12700"/>
                  </a:cubicBezTo>
                  <a:cubicBezTo>
                    <a:pt x="12734671" y="19685"/>
                    <a:pt x="12728956" y="25400"/>
                    <a:pt x="1272197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84653">
                <a:alpha val="24706"/>
              </a:srgbClr>
            </a:solidFill>
            <a:ln w="9532" cap="sq">
              <a:solidFill>
                <a:srgbClr val="DFDFE0"/>
              </a:solidFill>
              <a:prstDash val="solid"/>
              <a:miter/>
            </a:ln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7811795" y="3050238"/>
            <a:ext cx="4635189" cy="2093709"/>
          </a:xfrm>
          <a:custGeom>
            <a:avLst/>
            <a:gdLst/>
            <a:ahLst/>
            <a:cxnLst/>
            <a:rect r="r" b="b" t="t" l="l"/>
            <a:pathLst>
              <a:path h="2093709" w="4635189">
                <a:moveTo>
                  <a:pt x="0" y="0"/>
                </a:moveTo>
                <a:lnTo>
                  <a:pt x="4635189" y="0"/>
                </a:lnTo>
                <a:lnTo>
                  <a:pt x="4635189" y="2093710"/>
                </a:lnTo>
                <a:lnTo>
                  <a:pt x="0" y="2093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Freeform 15" id="15" descr="preencoded.png"/>
          <p:cNvSpPr/>
          <p:nvPr/>
        </p:nvSpPr>
        <p:spPr>
          <a:xfrm flipH="false" flipV="false" rot="0">
            <a:off x="12717904" y="3050238"/>
            <a:ext cx="4635332" cy="2093709"/>
          </a:xfrm>
          <a:custGeom>
            <a:avLst/>
            <a:gdLst/>
            <a:ahLst/>
            <a:cxnLst/>
            <a:rect r="r" b="b" t="t" l="l"/>
            <a:pathLst>
              <a:path h="2093709" w="4635332">
                <a:moveTo>
                  <a:pt x="0" y="0"/>
                </a:moveTo>
                <a:lnTo>
                  <a:pt x="4635332" y="0"/>
                </a:lnTo>
                <a:lnTo>
                  <a:pt x="4635332" y="2093710"/>
                </a:lnTo>
                <a:lnTo>
                  <a:pt x="0" y="2093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" r="0" b="-6"/>
            </a:stretch>
          </a:blipFill>
        </p:spPr>
      </p:sp>
      <p:sp>
        <p:nvSpPr>
          <p:cNvPr name="Freeform 16" id="16" descr="preencoded.png"/>
          <p:cNvSpPr/>
          <p:nvPr/>
        </p:nvSpPr>
        <p:spPr>
          <a:xfrm flipH="false" flipV="false" rot="0">
            <a:off x="7811795" y="5414877"/>
            <a:ext cx="4635189" cy="2527440"/>
          </a:xfrm>
          <a:custGeom>
            <a:avLst/>
            <a:gdLst/>
            <a:ahLst/>
            <a:cxnLst/>
            <a:rect r="r" b="b" t="t" l="l"/>
            <a:pathLst>
              <a:path h="2527440" w="4635189">
                <a:moveTo>
                  <a:pt x="0" y="0"/>
                </a:moveTo>
                <a:lnTo>
                  <a:pt x="4635189" y="0"/>
                </a:lnTo>
                <a:lnTo>
                  <a:pt x="4635189" y="2527439"/>
                </a:lnTo>
                <a:lnTo>
                  <a:pt x="0" y="2527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85" r="0" b="-85"/>
            </a:stretch>
          </a:blipFill>
        </p:spPr>
      </p:sp>
      <p:sp>
        <p:nvSpPr>
          <p:cNvPr name="Freeform 17" id="17" descr="preencoded.png"/>
          <p:cNvSpPr/>
          <p:nvPr/>
        </p:nvSpPr>
        <p:spPr>
          <a:xfrm flipH="false" flipV="false" rot="0">
            <a:off x="12717904" y="5414877"/>
            <a:ext cx="4635332" cy="2527440"/>
          </a:xfrm>
          <a:custGeom>
            <a:avLst/>
            <a:gdLst/>
            <a:ahLst/>
            <a:cxnLst/>
            <a:rect r="r" b="b" t="t" l="l"/>
            <a:pathLst>
              <a:path h="2527440" w="4635332">
                <a:moveTo>
                  <a:pt x="0" y="0"/>
                </a:moveTo>
                <a:lnTo>
                  <a:pt x="4635332" y="0"/>
                </a:lnTo>
                <a:lnTo>
                  <a:pt x="4635332" y="2527439"/>
                </a:lnTo>
                <a:lnTo>
                  <a:pt x="0" y="2527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86" r="0" b="-86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811795" y="8247202"/>
            <a:ext cx="4781293" cy="745322"/>
            <a:chOff x="0" y="0"/>
            <a:chExt cx="6375057" cy="993762"/>
          </a:xfrm>
        </p:grpSpPr>
        <p:sp>
          <p:nvSpPr>
            <p:cNvPr name="Freeform 19" id="19" descr="preencoded.png">
              <a:hlinkClick r:id="rId10" tooltip="https://mood-bloom-nine.vercel.app/"/>
            </p:cNvPr>
            <p:cNvSpPr/>
            <p:nvPr/>
          </p:nvSpPr>
          <p:spPr>
            <a:xfrm flipH="false" flipV="false" rot="0">
              <a:off x="0" y="0"/>
              <a:ext cx="6375019" cy="993775"/>
            </a:xfrm>
            <a:custGeom>
              <a:avLst/>
              <a:gdLst/>
              <a:ahLst/>
              <a:cxnLst/>
              <a:rect r="r" b="b" t="t" l="l"/>
              <a:pathLst>
                <a:path h="993775" w="6375019">
                  <a:moveTo>
                    <a:pt x="0" y="0"/>
                  </a:moveTo>
                  <a:lnTo>
                    <a:pt x="6375019" y="0"/>
                  </a:lnTo>
                  <a:lnTo>
                    <a:pt x="6375019" y="993775"/>
                  </a:lnTo>
                  <a:lnTo>
                    <a:pt x="0" y="993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77" r="0" b="-47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811795" y="1273940"/>
            <a:ext cx="9161793" cy="92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Prototipe &amp; Demo Aplikasi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73358" y="3340246"/>
            <a:ext cx="3566084" cy="46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Live &amp; Siap Digunakan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73358" y="3891239"/>
            <a:ext cx="3864569" cy="94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Aplikasi MoodBloom sudah live dan dapat diakses.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79466" y="3340246"/>
            <a:ext cx="3566084" cy="46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Demo Langsung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79466" y="3891239"/>
            <a:ext cx="3864712" cy="80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Link: </a:t>
            </a:r>
            <a:r>
              <a:rPr lang="en-US" b="true" sz="2101" u="sng">
                <a:solidFill>
                  <a:srgbClr val="359DDF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12" tooltip="https://mood-bloom-nine.vercel.app/"/>
              </a:rPr>
              <a:t>https://mood-bloom-nine.vercel.app/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73358" y="5704884"/>
            <a:ext cx="3566084" cy="46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Fitur Utama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73358" y="6255877"/>
            <a:ext cx="3864569" cy="137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Fitur-fitur utama sudah terimplementasi dan berfungsi.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79466" y="5704884"/>
            <a:ext cx="3566084" cy="46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Multi-Device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79466" y="6255877"/>
            <a:ext cx="3864712" cy="94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Dapat diakses dari desktop dan mobile.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0" y="0"/>
            <a:ext cx="2524773" cy="1117212"/>
          </a:xfrm>
          <a:custGeom>
            <a:avLst/>
            <a:gdLst/>
            <a:ahLst/>
            <a:cxnLst/>
            <a:rect r="r" b="b" t="t" l="l"/>
            <a:pathLst>
              <a:path h="1117212" w="2524773">
                <a:moveTo>
                  <a:pt x="0" y="0"/>
                </a:moveTo>
                <a:lnTo>
                  <a:pt x="2524773" y="0"/>
                </a:lnTo>
                <a:lnTo>
                  <a:pt x="2524773" y="1117212"/>
                </a:lnTo>
                <a:lnTo>
                  <a:pt x="0" y="1117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DAHNcmOhTB8</dc:identifier>
  <dcterms:modified xsi:type="dcterms:W3CDTF">2011-08-01T06:04:30Z</dcterms:modified>
  <cp:revision>1</cp:revision>
  <dc:title>MoodBloom.pptx</dc:title>
</cp:coreProperties>
</file>